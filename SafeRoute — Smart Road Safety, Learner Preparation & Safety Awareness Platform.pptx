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Aptos"/>
              </a:rPr>
              <a:t>SAFEROUTE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52560" y="457200"/>
            <a:ext cx="2377440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475488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MOBILITY • SAFETY •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562356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Drive Smart.</a:t>
            </a:r>
            <a:br/>
            <a:r>
              <a:t>Ride Safe.</a:t>
            </a:r>
            <a:br/>
            <a:r>
              <a:t>Know the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A6B1C2"/>
                </a:solidFill>
                <a:latin typeface="Aptos"/>
              </a:rPr>
              <a:t>Smart Road Safety, Learner Preparation &amp; Safety Awareness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FFC107"/>
                </a:solidFill>
                <a:latin typeface="Aptos"/>
              </a:rPr>
              <a:t>Turn road-safety knowledge into safer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617720"/>
            <a:ext cx="1417320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36007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64515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617720"/>
            <a:ext cx="1417320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4636007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464515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617720"/>
            <a:ext cx="1417320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4636007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64515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79" y="4617720"/>
            <a:ext cx="1417320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9" y="4636007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464515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617720"/>
            <a:ext cx="1691640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636007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2DC27D"/>
                </a:solidFill>
                <a:latin typeface="Aptos"/>
              </a:rPr>
              <a:t>DRIVE SAFER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143000"/>
            <a:ext cx="4846320" cy="470916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41732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SAFETY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371600"/>
            <a:ext cx="1234440" cy="310896"/>
          </a:xfrm>
          <a:prstGeom prst="roundRect">
            <a:avLst/>
          </a:prstGeom>
          <a:solidFill>
            <a:srgbClr val="1E3931"/>
          </a:solidFill>
          <a:ln w="889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389888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2DC27D"/>
                </a:solidFill>
                <a:latin typeface="Aptos"/>
              </a:rPr>
              <a:t>LIVE DEMO MODE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1828800"/>
            <a:ext cx="2148840" cy="1828800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029968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SAFETY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04288"/>
            <a:ext cx="12801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400" b="1">
                <a:solidFill>
                  <a:srgbClr val="FFC107"/>
                </a:solidFill>
                <a:latin typeface="Aptos"/>
              </a:rPr>
              <a:t>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51460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A6B1C2"/>
                </a:solidFill>
                <a:latin typeface="Aptos"/>
              </a:rPr>
              <a:t>/100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3127248"/>
            <a:ext cx="1691640" cy="73152"/>
          </a:xfrm>
          <a:prstGeom prst="roundRect">
            <a:avLst/>
          </a:prstGeom>
          <a:solidFill>
            <a:srgbClr val="334052"/>
          </a:solidFill>
          <a:ln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0" y="3127248"/>
            <a:ext cx="1319479" cy="731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264408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A6B1C2"/>
                </a:solidFill>
                <a:latin typeface="Aptos"/>
              </a:rPr>
              <a:t>Scenario-based educational assessment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1828800"/>
            <a:ext cx="1874519" cy="1828800"/>
          </a:xfrm>
          <a:prstGeom prst="roundRect">
            <a:avLst/>
          </a:prstGeom>
          <a:solidFill>
            <a:srgbClr val="1E2837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6608" y="203911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A6B1C2"/>
                </a:solidFill>
                <a:latin typeface="Aptos"/>
              </a:rP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2340864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2DC27D"/>
                </a:solidFill>
                <a:latin typeface="Aptos"/>
              </a:rP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2944368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A6B1C2"/>
                </a:solidFill>
                <a:latin typeface="Aptos"/>
              </a:rPr>
              <a:t>Scenario: clear • day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3886200"/>
            <a:ext cx="4206240" cy="1481328"/>
          </a:xfrm>
          <a:prstGeom prst="roundRect">
            <a:avLst/>
          </a:prstGeom>
          <a:solidFill>
            <a:srgbClr val="1E2837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0608" y="4133087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Aptos"/>
              </a:rPr>
              <a:t>NEXT BEST 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48056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Review following distance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484632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A6B1C2"/>
                </a:solidFill>
                <a:latin typeface="Aptos"/>
              </a:rPr>
              <a:t>Then retry a defensive-driving scenario.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5532120"/>
            <a:ext cx="1298448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5550407"/>
            <a:ext cx="1207007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🛡 Safety Score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39327" y="5532120"/>
            <a:ext cx="1417320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5048" y="5550407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🎯 Practice Engine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02952" y="5532120"/>
            <a:ext cx="1207008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48672" y="5550407"/>
            <a:ext cx="111556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🔀 What-If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Road Safety Knowledge Is Not the Same as Road Safety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389888"/>
            <a:ext cx="749807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gap is not only information. It is the lack of decision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65960"/>
            <a:ext cx="5166360" cy="3520440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EB4D4B"/>
                </a:solidFill>
                <a:latin typeface="Aptos"/>
              </a:rPr>
              <a:t>CURRENT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51760"/>
            <a:ext cx="4480560" cy="39319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706624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Read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063240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55264"/>
            <a:ext cx="4480560" cy="39319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10128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Memorize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666744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58768"/>
            <a:ext cx="4480560" cy="39319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913631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Take static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4270248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62272"/>
            <a:ext cx="4480560" cy="39319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517136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Get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487375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65776"/>
            <a:ext cx="4480560" cy="39319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120640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Repeat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1965960"/>
            <a:ext cx="5532120" cy="3520440"/>
          </a:xfrm>
          <a:prstGeom prst="roundRect">
            <a:avLst/>
          </a:prstGeom>
          <a:solidFill>
            <a:srgbClr val="18202E"/>
          </a:solidFill>
          <a:ln w="1397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212848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Aptos"/>
              </a:rPr>
              <a:t>SAFEROUTE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596896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852928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044952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300984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493008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SIMULATE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749040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41064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GET EXPLANATION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197096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89120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IMPROVE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645152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837176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2DC27D"/>
                </a:solidFill>
                <a:latin typeface="Aptos"/>
              </a:rPr>
              <a:t>MAKE SAFER DECISIONS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623560"/>
            <a:ext cx="3611880" cy="694944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8096" y="5797296"/>
            <a:ext cx="310896" cy="310896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801868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687568"/>
            <a:ext cx="2788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FFC107"/>
                </a:solidFill>
                <a:latin typeface="Aptos"/>
              </a:rPr>
              <a:t>INFORMATION IS FRAGMENTED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897880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40" b="0">
                <a:solidFill>
                  <a:srgbClr val="A6B1C2"/>
                </a:solidFill>
                <a:latin typeface="Aptos"/>
              </a:rPr>
              <a:t>Rules, signs, licence concepts and practice are often separated.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60" y="5623560"/>
            <a:ext cx="3611880" cy="694944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26864" y="5797296"/>
            <a:ext cx="310896" cy="310896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26864" y="5801868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47488" y="5687568"/>
            <a:ext cx="2788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FF892B"/>
                </a:solidFill>
                <a:latin typeface="Aptos"/>
              </a:rPr>
              <a:t>PRACTICE LACKS 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5897880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40" b="0">
                <a:solidFill>
                  <a:srgbClr val="A6B1C2"/>
                </a:solidFill>
                <a:latin typeface="Aptos"/>
              </a:rPr>
              <a:t>Static MCQs test memory but rarely explore conditions or trade-offs.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39327" y="5623560"/>
            <a:ext cx="3611880" cy="694944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85632" y="5797296"/>
            <a:ext cx="310896" cy="310896"/>
          </a:xfrm>
          <a:prstGeom prst="ellipse">
            <a:avLst/>
          </a:prstGeom>
          <a:solidFill>
            <a:srgbClr val="111722"/>
          </a:solidFill>
          <a:ln w="10160">
            <a:solidFill>
              <a:srgbClr val="EB4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5632" y="5801868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6255" y="5687568"/>
            <a:ext cx="2788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EB4D4B"/>
                </a:solidFill>
                <a:latin typeface="Aptos"/>
              </a:rPr>
              <a:t>FEEDBACK COMES TOO 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5" y="5897880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40" b="0">
                <a:solidFill>
                  <a:srgbClr val="A6B1C2"/>
                </a:solidFill>
                <a:latin typeface="Aptos"/>
              </a:rPr>
              <a:t>A score tells users how they did—not what to improve next.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One Platform. One Learning Journey. Safer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371600"/>
            <a:ext cx="7680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SafeRoute is built around behaviour change—not just content consumption.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65960"/>
            <a:ext cx="2057400" cy="214884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4884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56032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108960"/>
            <a:ext cx="16916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A6B1C2"/>
                </a:solidFill>
                <a:latin typeface="Aptos"/>
              </a:rPr>
              <a:t>Rules • Signs • Licence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788920"/>
            <a:ext cx="2926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965960"/>
            <a:ext cx="2057400" cy="214884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14884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FF892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108960"/>
            <a:ext cx="16916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A6B1C2"/>
                </a:solidFill>
                <a:latin typeface="Aptos"/>
              </a:rPr>
              <a:t>MCQs • Mock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788920"/>
            <a:ext cx="2926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1965960"/>
            <a:ext cx="2057400" cy="214884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EB4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14884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EB4D4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56032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ASSESS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108960"/>
            <a:ext cx="16916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A6B1C2"/>
                </a:solidFill>
                <a:latin typeface="Aptos"/>
              </a:rPr>
              <a:t>Scenarios • What-If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788920"/>
            <a:ext cx="2926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34656" y="1965960"/>
            <a:ext cx="2057400" cy="214884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54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214884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549C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56032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IMPROVE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108960"/>
            <a:ext cx="16916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A6B1C2"/>
                </a:solidFill>
                <a:latin typeface="Aptos"/>
              </a:rPr>
              <a:t>Scores • Weak Areas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788920"/>
            <a:ext cx="2926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38944" y="1965960"/>
            <a:ext cx="2057400" cy="214884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3536" y="214884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2DC27D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56032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DRIVE SAFER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3108960"/>
            <a:ext cx="16916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A6B1C2"/>
                </a:solidFill>
                <a:latin typeface="Aptos"/>
              </a:rPr>
              <a:t>Awareness • 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709160"/>
            <a:ext cx="1755648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4727448"/>
            <a:ext cx="1664207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Browser-based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42032" y="4709160"/>
            <a:ext cx="1755648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87752" y="4727448"/>
            <a:ext cx="1664207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No login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62272" y="4709160"/>
            <a:ext cx="1755648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2" y="4727448"/>
            <a:ext cx="1664207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No backend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2512" y="4709160"/>
            <a:ext cx="2011680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472744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LocalStorage progress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58784" y="4709160"/>
            <a:ext cx="1755648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4504" y="4727448"/>
            <a:ext cx="1664207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No paid APIs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79024" y="4709160"/>
            <a:ext cx="2011680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24744" y="472744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Single HTML application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96128"/>
            <a:ext cx="9875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FFC107"/>
                </a:solidFill>
                <a:latin typeface="Aptos"/>
              </a:rPr>
              <a:t>The result: a repeatable loop that connects knowledge → practice → feedback → action.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12680" y="5349240"/>
            <a:ext cx="1508760" cy="713232"/>
          </a:xfrm>
          <a:prstGeom prst="roundRect">
            <a:avLst/>
          </a:prstGeom>
          <a:solidFill>
            <a:srgbClr val="1C372D"/>
          </a:solidFill>
          <a:ln w="1143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5477256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2DC27D"/>
                </a:solidFill>
                <a:latin typeface="Aptos"/>
              </a:rPr>
              <a:t>SAFER</a:t>
            </a:r>
            <a:br/>
            <a:r>
              <a:t>DECISIONS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THE MEMORABLE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What-If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389888"/>
            <a:ext cx="5029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FFC107"/>
                </a:solidFill>
                <a:latin typeface="Aptos"/>
              </a:rPr>
              <a:t>Make safety trade-offs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65960"/>
            <a:ext cx="3108960" cy="3611880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BASELINE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2615184"/>
            <a:ext cx="310896" cy="310896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19756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65176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Two-Wheeler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3118104"/>
            <a:ext cx="310896" cy="310896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122676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15468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Night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621024"/>
            <a:ext cx="310896" cy="310896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625596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65760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Rain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" y="4123944"/>
            <a:ext cx="310896" cy="310896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128515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6052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Beginner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617720"/>
            <a:ext cx="640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2700" b="1">
                <a:solidFill>
                  <a:srgbClr val="EB4D4B"/>
                </a:solidFill>
                <a:latin typeface="Aptos"/>
              </a:rPr>
              <a:t>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477316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/100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" y="5230368"/>
            <a:ext cx="2286000" cy="73152"/>
          </a:xfrm>
          <a:prstGeom prst="roundRect">
            <a:avLst/>
          </a:prstGeom>
          <a:solidFill>
            <a:srgbClr val="334052"/>
          </a:solidFill>
          <a:ln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7824" y="5230368"/>
            <a:ext cx="1325880" cy="73152"/>
          </a:xfrm>
          <a:prstGeom prst="roundRect">
            <a:avLst/>
          </a:prstGeom>
          <a:solidFill>
            <a:srgbClr val="EB4D4B"/>
          </a:solidFill>
          <a:ln>
            <a:solidFill>
              <a:srgbClr val="EB4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05072" y="1965960"/>
            <a:ext cx="3749039" cy="3611880"/>
          </a:xfrm>
          <a:prstGeom prst="roundRect">
            <a:avLst/>
          </a:prstGeom>
          <a:solidFill>
            <a:srgbClr val="111722"/>
          </a:solidFill>
          <a:ln w="1397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221992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CHANGE ONE 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761488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🌧 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7568" y="27889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2761488"/>
            <a:ext cx="1234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☀ Clear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703320"/>
            <a:ext cx="2011680" cy="310896"/>
          </a:xfrm>
          <a:prstGeom prst="roundRect">
            <a:avLst/>
          </a:prstGeom>
          <a:solidFill>
            <a:srgbClr val="FFC107"/>
          </a:solidFill>
          <a:ln w="889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721607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080E19"/>
                </a:solidFill>
                <a:latin typeface="Aptos"/>
              </a:rPr>
              <a:t>REASSESS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315968"/>
            <a:ext cx="2971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A6B1C2"/>
                </a:solidFill>
                <a:latin typeface="Aptos"/>
              </a:rPr>
              <a:t>The engine recalculates the scenario</a:t>
            </a:r>
            <a:br/>
            <a:r>
              <a:t>using transparent rules.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1965960"/>
            <a:ext cx="3520440" cy="361188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2194560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UPDATED CONDITION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2606040"/>
            <a:ext cx="1005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600" b="1">
                <a:solidFill>
                  <a:srgbClr val="2DC27D"/>
                </a:solidFill>
                <a:latin typeface="Aptos"/>
              </a:rPr>
              <a:t>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89864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6B1C2"/>
                </a:solidFill>
                <a:latin typeface="Aptos"/>
              </a:rPr>
              <a:t>/100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4464" y="3383280"/>
            <a:ext cx="2788920" cy="73152"/>
          </a:xfrm>
          <a:prstGeom prst="roundRect">
            <a:avLst/>
          </a:prstGeom>
          <a:solidFill>
            <a:srgbClr val="334052"/>
          </a:solidFill>
          <a:ln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84464" y="3383280"/>
            <a:ext cx="2119579" cy="73152"/>
          </a:xfrm>
          <a:prstGeom prst="roundRect">
            <a:avLst/>
          </a:prstGeom>
          <a:solidFill>
            <a:srgbClr val="2DC27D"/>
          </a:solidFill>
          <a:ln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4" y="379476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Why the score moved</a:t>
            </a:r>
          </a:p>
        </p:txBody>
      </p:sp>
      <p:sp>
        <p:nvSpPr>
          <p:cNvPr id="41" name="Oval 40"/>
          <p:cNvSpPr/>
          <p:nvPr/>
        </p:nvSpPr>
        <p:spPr>
          <a:xfrm>
            <a:off x="8284464" y="4142231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4146803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3648" y="4133087"/>
            <a:ext cx="25054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Better visibility</a:t>
            </a:r>
          </a:p>
        </p:txBody>
      </p:sp>
      <p:sp>
        <p:nvSpPr>
          <p:cNvPr id="44" name="Oval 43"/>
          <p:cNvSpPr/>
          <p:nvPr/>
        </p:nvSpPr>
        <p:spPr>
          <a:xfrm>
            <a:off x="8284464" y="4526279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4464" y="4530851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4517136"/>
            <a:ext cx="25054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Lower environmental risk</a:t>
            </a:r>
          </a:p>
        </p:txBody>
      </p:sp>
      <p:sp>
        <p:nvSpPr>
          <p:cNvPr id="47" name="Oval 46"/>
          <p:cNvSpPr/>
          <p:nvPr/>
        </p:nvSpPr>
        <p:spPr>
          <a:xfrm>
            <a:off x="8284464" y="4910327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4464" y="4914899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4901183"/>
            <a:ext cx="25054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Clearer scenario conditions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806440"/>
            <a:ext cx="10927080" cy="438912"/>
          </a:xfrm>
          <a:prstGeom prst="roundRect">
            <a:avLst/>
          </a:prstGeom>
          <a:solidFill>
            <a:srgbClr val="1F2630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916168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19" b="1">
                <a:solidFill>
                  <a:srgbClr val="A6B1C2"/>
                </a:solidFill>
                <a:latin typeface="Aptos"/>
              </a:rPr>
              <a:t>EDUCATIONAL SCORING • NOT REAL-TIME TRAFFIC OR WEATHER PREDICTION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EXPLAINABLE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Your Score Should Tell You What To Do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38988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Aptos"/>
              </a:rPr>
              <a:t>🧠  SAFEROUTE SAFETY COACH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2743200" cy="3337560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OVERALL SAFETY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1554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600" b="1">
                <a:solidFill>
                  <a:srgbClr val="FFC107"/>
                </a:solidFill>
                <a:latin typeface="Aptos"/>
              </a:rPr>
              <a:t>72%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91840"/>
            <a:ext cx="2240280" cy="73152"/>
          </a:xfrm>
          <a:prstGeom prst="roundRect">
            <a:avLst/>
          </a:prstGeom>
          <a:solidFill>
            <a:srgbClr val="334052"/>
          </a:solidFill>
          <a:ln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291840"/>
            <a:ext cx="1613001" cy="731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30752"/>
            <a:ext cx="1280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A6B1C2"/>
                </a:solidFill>
                <a:latin typeface="Aptos"/>
              </a:rPr>
              <a:t>Strongest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Road 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977639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200" b="1">
                <a:solidFill>
                  <a:srgbClr val="2DC27D"/>
                </a:solidFill>
                <a:latin typeface="Aptos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4"/>
            <a:ext cx="1280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A6B1C2"/>
                </a:solidFill>
                <a:latin typeface="Aptos"/>
              </a:rPr>
              <a:t>Needs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90872"/>
            <a:ext cx="1554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Defensive Driving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69087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EB4D4B"/>
                </a:solidFill>
                <a:latin typeface="Aptos"/>
              </a:rPr>
              <a:t>54%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1874519"/>
            <a:ext cx="4800600" cy="333756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148840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NEXT BEST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606040"/>
            <a:ext cx="438912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2624328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FC107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633472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Review Following Distance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264408"/>
            <a:ext cx="438912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3282696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FC107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291840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Complete 5 Defensive Driving questions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3922776"/>
            <a:ext cx="438912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3941063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FC107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950208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Retry a safety scenario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663440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A6B1C2"/>
                </a:solidFill>
                <a:latin typeface="Aptos"/>
              </a:rPr>
              <a:t>Recommendation logic is transparent:</a:t>
            </a:r>
            <a:br/>
            <a:r>
              <a:t>weak topic → targeted content → retry.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1874519"/>
            <a:ext cx="2816352" cy="3337560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2148840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RULE-BASED THRESHOLDS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2697480"/>
            <a:ext cx="2267712" cy="53035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2816352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C27D"/>
                </a:solidFill>
                <a:latin typeface="Aptos"/>
              </a:rPr>
              <a:t>80–100%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816352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F5F7FA"/>
                </a:solidFill>
                <a:latin typeface="Aptos"/>
              </a:rPr>
              <a:t>STRONG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3456432"/>
            <a:ext cx="2267712" cy="53035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575303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Aptos"/>
              </a:rPr>
              <a:t>60–79%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3575303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F5F7FA"/>
                </a:solidFill>
                <a:latin typeface="Aptos"/>
              </a:rPr>
              <a:t>NEEDS PRACTICE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4215384"/>
            <a:ext cx="2267712" cy="530352"/>
          </a:xfrm>
          <a:prstGeom prst="roundRect">
            <a:avLst/>
          </a:prstGeom>
          <a:solidFill>
            <a:srgbClr val="1E2837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4334256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EB4D4B"/>
                </a:solidFill>
                <a:latin typeface="Aptos"/>
              </a:rPr>
              <a:t>&lt;60%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4334256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F5F7FA"/>
                </a:solidFill>
                <a:latin typeface="Aptos"/>
              </a:rPr>
              <a:t>PRIORITY REVISION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89204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A6B1C2"/>
                </a:solidFill>
                <a:latin typeface="Aptos"/>
              </a:rPr>
              <a:t>No black box.</a:t>
            </a:r>
            <a:br/>
            <a:r>
              <a:t>No fake AI claim.</a:t>
            </a:r>
            <a:br/>
            <a:r>
              <a:t>Explainable by design.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Everything Needed for a Complete Safety 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572768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755648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60219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22576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ROAD SAFETY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15768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Interactive lessons, common mistakes and quick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737360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755648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572768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93592" y="1755648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1760219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322576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ROAD SIGNS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715768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Search, filter and practise sign recognition.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22392" y="1737360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1755648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1572768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1755648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760219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322576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LICENCE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715768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Educational learner/full licence preparation.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11312" y="1737360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1755648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88551" y="1572768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71431" y="1755648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1760219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1" y="2322576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PRACTICE CENTER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1" y="2715768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Quick tests, standard tests and mock tests.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00231" y="1737360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45951" y="1755648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3749039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4672" y="3931920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3936491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449884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SAFETY SCENARIOS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4892040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Real-world decisions with safer/less-safe reasoning.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33472" y="3913631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9192" y="3931919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10712" y="3749039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93592" y="3931920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93592" y="3936491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3592" y="449884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SAFE JOURNEY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3592" y="4892040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Scenario-based journey risk assessment.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22392" y="3913631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68112" y="3931919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9631" y="3749039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82512" y="3931920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3936491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449884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WHAT-IF SIMULATOR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4892040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Change conditions and compare outcomes.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11312" y="3913631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57032" y="3931919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88551" y="3749039"/>
            <a:ext cx="2487168" cy="1828800"/>
          </a:xfrm>
          <a:prstGeom prst="roundRect">
            <a:avLst/>
          </a:prstGeom>
          <a:solidFill>
            <a:srgbClr val="18202E"/>
          </a:solidFill>
          <a:ln w="952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171431" y="3931920"/>
            <a:ext cx="438912" cy="438912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71431" y="3936491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71431" y="449884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PERSONAL 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71431" y="4892040"/>
            <a:ext cx="2103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>
                <a:solidFill>
                  <a:srgbClr val="A6B1C2"/>
                </a:solidFill>
                <a:latin typeface="Aptos"/>
              </a:rPr>
              <a:t>Progress, weak areas, achievements and actions.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000231" y="3913631"/>
            <a:ext cx="310896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45951" y="3931919"/>
            <a:ext cx="219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" y="6080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FFC107"/>
                </a:solidFill>
                <a:latin typeface="Aptos"/>
              </a:rPr>
              <a:t>ONE PLATFORM  •  ONE PROGRESS LOOP  •  ONE PLACE TO SEE WHAT TO IMPROVE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ENGAGEMENT +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Turn Learning Into a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572768"/>
            <a:ext cx="5486400" cy="4480560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Aptos"/>
              </a:rPr>
              <a:t>🎮  SAFETY PROGRESSION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487168"/>
            <a:ext cx="658368" cy="658368"/>
          </a:xfrm>
          <a:prstGeom prst="ellipse">
            <a:avLst/>
          </a:prstGeom>
          <a:solidFill>
            <a:srgbClr val="11172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4261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685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9326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1">
                <a:solidFill>
                  <a:srgbClr val="A6B1C2"/>
                </a:solidFill>
                <a:latin typeface="Aptos"/>
              </a:rPr>
              <a:t>XP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4208" y="2816352"/>
            <a:ext cx="603504" cy="0"/>
          </a:xfrm>
          <a:prstGeom prst="line">
            <a:avLst/>
          </a:prstGeom>
          <a:ln w="15240">
            <a:solidFill>
              <a:srgbClr val="FFC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267712" y="2487168"/>
            <a:ext cx="658368" cy="658368"/>
          </a:xfrm>
          <a:prstGeom prst="ellipse">
            <a:avLst/>
          </a:prstGeom>
          <a:solidFill>
            <a:srgbClr val="11172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64261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3273552"/>
            <a:ext cx="9326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1">
                <a:solidFill>
                  <a:srgbClr val="A6B1C2"/>
                </a:solidFill>
                <a:latin typeface="Aptos"/>
              </a:rPr>
              <a:t>LEVEL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816352"/>
            <a:ext cx="603504" cy="0"/>
          </a:xfrm>
          <a:prstGeom prst="line">
            <a:avLst/>
          </a:prstGeom>
          <a:ln w="15240">
            <a:solidFill>
              <a:srgbClr val="FFC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1172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264261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5D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3273552"/>
            <a:ext cx="9326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1">
                <a:solidFill>
                  <a:srgbClr val="A6B1C2"/>
                </a:solidFill>
                <a:latin typeface="Aptos"/>
              </a:rPr>
              <a:t>STREAK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87952" y="2816352"/>
            <a:ext cx="603504" cy="0"/>
          </a:xfrm>
          <a:prstGeom prst="line">
            <a:avLst/>
          </a:prstGeom>
          <a:ln w="15240">
            <a:solidFill>
              <a:srgbClr val="FFC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91456" y="2487168"/>
            <a:ext cx="658368" cy="658368"/>
          </a:xfrm>
          <a:prstGeom prst="ellipse">
            <a:avLst/>
          </a:prstGeom>
          <a:solidFill>
            <a:srgbClr val="11172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264261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273552"/>
            <a:ext cx="9326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1">
                <a:solidFill>
                  <a:srgbClr val="A6B1C2"/>
                </a:solidFill>
                <a:latin typeface="Aptos"/>
              </a:rPr>
              <a:t>BADGES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703320"/>
            <a:ext cx="2057400" cy="310896"/>
          </a:xfrm>
          <a:prstGeom prst="roundRect">
            <a:avLst/>
          </a:prstGeom>
          <a:solidFill>
            <a:srgbClr val="2A2717"/>
          </a:solidFill>
          <a:ln w="889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21607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FC107"/>
                </a:solidFill>
                <a:latin typeface="Aptos"/>
              </a:rPr>
              <a:t>LEVEL 4 — ROAD READY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233672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38244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584" y="4224528"/>
            <a:ext cx="4151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Daily Safety Mission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617720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22292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4608576"/>
            <a:ext cx="4151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Practice streaks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001768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06340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4992624"/>
            <a:ext cx="4151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Achievement badges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5385816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90388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5376672"/>
            <a:ext cx="4151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Progress tracking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1572768"/>
            <a:ext cx="5212080" cy="448056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1847088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C27D"/>
                </a:solidFill>
                <a:latin typeface="Aptos"/>
              </a:rPr>
              <a:t>🚑  EMERGENCY READINESS</a:t>
            </a:r>
          </a:p>
        </p:txBody>
      </p:sp>
      <p:sp>
        <p:nvSpPr>
          <p:cNvPr id="40" name="Oval 39"/>
          <p:cNvSpPr/>
          <p:nvPr/>
        </p:nvSpPr>
        <p:spPr>
          <a:xfrm>
            <a:off x="6601968" y="2395728"/>
            <a:ext cx="283464" cy="28346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400300"/>
            <a:ext cx="2834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2414016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>
                <a:solidFill>
                  <a:srgbClr val="F5F7FA"/>
                </a:solidFill>
                <a:latin typeface="Aptos"/>
              </a:rPr>
              <a:t>Seat belt / helmet ready</a:t>
            </a:r>
          </a:p>
        </p:txBody>
      </p:sp>
      <p:sp>
        <p:nvSpPr>
          <p:cNvPr id="43" name="Oval 42"/>
          <p:cNvSpPr/>
          <p:nvPr/>
        </p:nvSpPr>
        <p:spPr>
          <a:xfrm>
            <a:off x="6601968" y="2898648"/>
            <a:ext cx="283464" cy="28346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2903220"/>
            <a:ext cx="2834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916936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>
                <a:solidFill>
                  <a:srgbClr val="F5F7FA"/>
                </a:solidFill>
                <a:latin typeface="Aptos"/>
              </a:rPr>
              <a:t>Phone distraction controlled</a:t>
            </a:r>
          </a:p>
        </p:txBody>
      </p:sp>
      <p:sp>
        <p:nvSpPr>
          <p:cNvPr id="46" name="Oval 45"/>
          <p:cNvSpPr/>
          <p:nvPr/>
        </p:nvSpPr>
        <p:spPr>
          <a:xfrm>
            <a:off x="6601968" y="3401568"/>
            <a:ext cx="283464" cy="28346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406140"/>
            <a:ext cx="2834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3419856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>
                <a:solidFill>
                  <a:srgbClr val="F5F7FA"/>
                </a:solidFill>
                <a:latin typeface="Aptos"/>
              </a:rPr>
              <a:t>Vehicle condition considered</a:t>
            </a:r>
          </a:p>
        </p:txBody>
      </p:sp>
      <p:sp>
        <p:nvSpPr>
          <p:cNvPr id="49" name="Oval 48"/>
          <p:cNvSpPr/>
          <p:nvPr/>
        </p:nvSpPr>
        <p:spPr>
          <a:xfrm>
            <a:off x="6601968" y="3904488"/>
            <a:ext cx="283464" cy="28346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3909060"/>
            <a:ext cx="2834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3922776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>
                <a:solidFill>
                  <a:srgbClr val="F5F7FA"/>
                </a:solidFill>
                <a:latin typeface="Aptos"/>
              </a:rPr>
              <a:t>Visibility considered</a:t>
            </a:r>
          </a:p>
        </p:txBody>
      </p:sp>
      <p:sp>
        <p:nvSpPr>
          <p:cNvPr id="52" name="Oval 51"/>
          <p:cNvSpPr/>
          <p:nvPr/>
        </p:nvSpPr>
        <p:spPr>
          <a:xfrm>
            <a:off x="6601968" y="4407408"/>
            <a:ext cx="283464" cy="28346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A6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411980"/>
            <a:ext cx="2834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425696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A6B1C2"/>
                </a:solidFill>
                <a:latin typeface="Aptos"/>
              </a:rPr>
              <a:t>Emergency essentials considered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4965192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600" b="1">
                <a:solidFill>
                  <a:srgbClr val="2DC27D"/>
                </a:solidFill>
                <a:latin typeface="Aptos"/>
              </a:rPr>
              <a:t>4 / 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01968" y="5376672"/>
            <a:ext cx="3977639" cy="73152"/>
          </a:xfrm>
          <a:prstGeom prst="roundRect">
            <a:avLst/>
          </a:prstGeom>
          <a:solidFill>
            <a:srgbClr val="334052"/>
          </a:solidFill>
          <a:ln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01968" y="5376672"/>
            <a:ext cx="3182112" cy="73152"/>
          </a:xfrm>
          <a:prstGeom prst="roundRect">
            <a:avLst/>
          </a:prstGeom>
          <a:solidFill>
            <a:srgbClr val="2DC27D"/>
          </a:solidFill>
          <a:ln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01968" y="5596128"/>
            <a:ext cx="4297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A6B1C2"/>
                </a:solidFill>
                <a:latin typeface="Aptos"/>
              </a:rPr>
              <a:t>Educational checklist — not emergency-service advice.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Simple Technology. Strong Product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371600"/>
            <a:ext cx="8138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The implementation is intentionally lightweight. The product logic is where the value lives.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493776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54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29384"/>
            <a:ext cx="21232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549CFF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8414" y="1929384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Browser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9514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404872"/>
            <a:ext cx="603504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9032" y="2487168"/>
            <a:ext cx="25950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FFC107"/>
                </a:solidFill>
                <a:latin typeface="Aptos"/>
              </a:rPr>
              <a:t>SAFE ROUTE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9857" y="2487168"/>
            <a:ext cx="3017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HTML + CSS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5292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62656"/>
            <a:ext cx="603504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044951"/>
            <a:ext cx="25950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FF892B"/>
                </a:solidFill>
                <a:latin typeface="Aptos"/>
              </a:rPr>
              <a:t>LEARNING + PRACTICE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1217" y="3044951"/>
            <a:ext cx="3017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Content + test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10711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520439"/>
            <a:ext cx="603504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EB4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9032" y="3602735"/>
            <a:ext cx="25950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EB4D4B"/>
                </a:solidFill>
                <a:latin typeface="Aptos"/>
              </a:rPr>
              <a:t>SCENARIO / JOURNEY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9857" y="3602735"/>
            <a:ext cx="3017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Conditions + choices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9684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78224"/>
            <a:ext cx="603504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160520"/>
            <a:ext cx="25950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2DC27D"/>
                </a:solidFill>
                <a:latin typeface="Aptos"/>
              </a:rPr>
              <a:t>RULE-BASED SAFETY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1217" y="4160520"/>
            <a:ext cx="3017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Risk + score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52628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636008"/>
            <a:ext cx="603504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9032" y="4718304"/>
            <a:ext cx="25950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FFC107"/>
                </a:solidFill>
                <a:latin typeface="Aptos"/>
              </a:rPr>
              <a:t>SCORE + RISK FACTORS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9857" y="4718304"/>
            <a:ext cx="3017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Explainable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508406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93792"/>
            <a:ext cx="603504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54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276088"/>
            <a:ext cx="25950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549CFF"/>
                </a:solidFill>
                <a:latin typeface="Aptos"/>
              </a:rPr>
              <a:t>ADAPTIVE SAFETY COACH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1217" y="5276088"/>
            <a:ext cx="3017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Next-best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64184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A6B1C2"/>
                </a:solidFill>
                <a:latin typeface="Aptos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751576"/>
            <a:ext cx="4937760" cy="438912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A6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99032" y="5833872"/>
            <a:ext cx="21232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A6B1C2"/>
                </a:solidFill>
                <a:latin typeface="Aptos"/>
              </a:rPr>
              <a:t>LOCALSTORAGE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7054" y="5833872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0">
                <a:solidFill>
                  <a:srgbClr val="A6B1C2"/>
                </a:solidFill>
                <a:latin typeface="Aptos"/>
              </a:rPr>
              <a:t>Progress + history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1847088"/>
            <a:ext cx="4050791" cy="4462272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0688" y="212140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STACK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0688" y="2542032"/>
            <a:ext cx="3291840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6408" y="256032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HTML5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90688" y="3044952"/>
            <a:ext cx="3291840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36408" y="306324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CSS3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90688" y="3547872"/>
            <a:ext cx="3291840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36408" y="356616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Vanilla JavaScript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90688" y="4050791"/>
            <a:ext cx="3291840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36408" y="4069079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LocalStorage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4709160"/>
            <a:ext cx="1554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Aptos"/>
              </a:rPr>
              <a:t>NO BACKEND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90688" y="5047488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A6B1C2"/>
                </a:solidFill>
                <a:latin typeface="Aptos"/>
              </a:rPr>
              <a:t>• NO LOGIN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5276088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A6B1C2"/>
                </a:solidFill>
                <a:latin typeface="Aptos"/>
              </a:rPr>
              <a:t>• NO DATABASE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90688" y="5504688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A6B1C2"/>
                </a:solidFill>
                <a:latin typeface="Aptos"/>
              </a:rPr>
              <a:t>• NO PAID APIs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0688" y="5733288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A6B1C2"/>
                </a:solidFill>
                <a:latin typeface="Aptos"/>
              </a:rPr>
              <a:t>• NO EXTERNAL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90688" y="5961888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A6B1C2"/>
                </a:solidFill>
                <a:latin typeface="Aptos"/>
              </a:rPr>
              <a:t>• SINGLE HTML FILE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90688" y="6062472"/>
            <a:ext cx="3337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>
                <a:solidFill>
                  <a:srgbClr val="FFC107"/>
                </a:solidFill>
                <a:latin typeface="Aptos"/>
              </a:rPr>
              <a:t>Works directly by opening the HTML file in a modern browser.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TRUST +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Safety Technology Should Not Invent Legal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572768"/>
            <a:ext cx="3429000" cy="324612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828800"/>
            <a:ext cx="457200" cy="457200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33372"/>
            <a:ext cx="45720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Aptos"/>
              </a:rPr>
              <a:t>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5059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EDUCATIONAL LAYER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" y="2916936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21508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907792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Road-safety concepts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3337560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342132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328416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Practice questions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75818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6275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374904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Scenario reasoning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" y="4178808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183380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169664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Learning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1572768"/>
            <a:ext cx="3429000" cy="324612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5152" y="1828800"/>
            <a:ext cx="457200" cy="457200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1833372"/>
            <a:ext cx="45720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Aptos"/>
              </a:rPr>
              <a:t>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45059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REGULATORY LAYER</a:t>
            </a:r>
          </a:p>
        </p:txBody>
      </p:sp>
      <p:sp>
        <p:nvSpPr>
          <p:cNvPr id="27" name="Oval 26"/>
          <p:cNvSpPr/>
          <p:nvPr/>
        </p:nvSpPr>
        <p:spPr>
          <a:xfrm>
            <a:off x="4645152" y="2916936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2921508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2907792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Avoid fabricated fees</a:t>
            </a:r>
          </a:p>
        </p:txBody>
      </p:sp>
      <p:sp>
        <p:nvSpPr>
          <p:cNvPr id="30" name="Oval 29"/>
          <p:cNvSpPr/>
          <p:nvPr/>
        </p:nvSpPr>
        <p:spPr>
          <a:xfrm>
            <a:off x="4645152" y="3337560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3342132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3328416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Avoid fabricated penalties</a:t>
            </a:r>
          </a:p>
        </p:txBody>
      </p:sp>
      <p:sp>
        <p:nvSpPr>
          <p:cNvPr id="33" name="Oval 32"/>
          <p:cNvSpPr/>
          <p:nvPr/>
        </p:nvSpPr>
        <p:spPr>
          <a:xfrm>
            <a:off x="4645152" y="375818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376275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374904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Avoid invented age/validity</a:t>
            </a:r>
          </a:p>
        </p:txBody>
      </p:sp>
      <p:sp>
        <p:nvSpPr>
          <p:cNvPr id="36" name="Oval 35"/>
          <p:cNvSpPr/>
          <p:nvPr/>
        </p:nvSpPr>
        <p:spPr>
          <a:xfrm>
            <a:off x="4645152" y="4178808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4183380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169664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Verify current procedures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1312" y="1572768"/>
            <a:ext cx="3429000" cy="324612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9912" y="1828800"/>
            <a:ext cx="457200" cy="457200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912" y="1833372"/>
            <a:ext cx="45720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Aptos"/>
              </a:rPr>
              <a:t>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245059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PRIVACY BY DESIGN</a:t>
            </a:r>
          </a:p>
        </p:txBody>
      </p:sp>
      <p:sp>
        <p:nvSpPr>
          <p:cNvPr id="43" name="Oval 42"/>
          <p:cNvSpPr/>
          <p:nvPr/>
        </p:nvSpPr>
        <p:spPr>
          <a:xfrm>
            <a:off x="8439912" y="2916936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2921508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9096" y="2907792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No account</a:t>
            </a:r>
          </a:p>
        </p:txBody>
      </p:sp>
      <p:sp>
        <p:nvSpPr>
          <p:cNvPr id="46" name="Oval 45"/>
          <p:cNvSpPr/>
          <p:nvPr/>
        </p:nvSpPr>
        <p:spPr>
          <a:xfrm>
            <a:off x="8439912" y="3337560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9912" y="3342132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9096" y="3328416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No personal profile</a:t>
            </a:r>
          </a:p>
        </p:txBody>
      </p:sp>
      <p:sp>
        <p:nvSpPr>
          <p:cNvPr id="49" name="Oval 48"/>
          <p:cNvSpPr/>
          <p:nvPr/>
        </p:nvSpPr>
        <p:spPr>
          <a:xfrm>
            <a:off x="8439912" y="375818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2" y="376275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9096" y="374904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Local progress</a:t>
            </a:r>
          </a:p>
        </p:txBody>
      </p:sp>
      <p:sp>
        <p:nvSpPr>
          <p:cNvPr id="52" name="Oval 51"/>
          <p:cNvSpPr/>
          <p:nvPr/>
        </p:nvSpPr>
        <p:spPr>
          <a:xfrm>
            <a:off x="8439912" y="4178808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2" y="4183380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69096" y="4169664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No cloud database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" y="5102352"/>
            <a:ext cx="10927080" cy="960120"/>
          </a:xfrm>
          <a:prstGeom prst="roundRect">
            <a:avLst/>
          </a:prstGeom>
          <a:solidFill>
            <a:srgbClr val="271F1F"/>
          </a:solidFill>
          <a:ln w="11430">
            <a:solidFill>
              <a:srgbClr val="EB4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303520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EB4D4B"/>
                </a:solidFill>
                <a:latin typeface="Aptos"/>
              </a:rPr>
              <a:t>NOT AN OFFICIAL GOVERNMENT / RTO SERVICE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5285232"/>
            <a:ext cx="6355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>
                <a:solidFill>
                  <a:srgbClr val="F5F7FA"/>
                </a:solidFill>
                <a:latin typeface="Aptos"/>
              </a:rPr>
              <a:t>Verify current licence requirements, regulations and procedures with official government/RTO sources.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5632704"/>
            <a:ext cx="6355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A6B1C2"/>
                </a:solidFill>
                <a:latin typeface="Aptos"/>
              </a:rPr>
              <a:t>Practice results do not guarantee success in an official driving or licensing test.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From Passive Learning to Active Decision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554480"/>
            <a:ext cx="5349240" cy="502920"/>
          </a:xfrm>
          <a:prstGeom prst="roundRect">
            <a:avLst/>
          </a:prstGeom>
          <a:solidFill>
            <a:srgbClr val="111722"/>
          </a:solidFill>
          <a:ln w="762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30952" cy="502920"/>
          </a:xfrm>
          <a:prstGeom prst="roundRect">
            <a:avLst/>
          </a:prstGeom>
          <a:solidFill>
            <a:srgbClr val="342B12"/>
          </a:solidFill>
          <a:ln w="1143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TRADITIONAL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700784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SAFEROUTE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5349240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330952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40864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A6B1C2"/>
                </a:solidFill>
                <a:latin typeface="Aptos"/>
              </a:rPr>
              <a:t>Read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40864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Learn + practise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340864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761488"/>
            <a:ext cx="5349240" cy="530352"/>
          </a:xfrm>
          <a:prstGeom prst="roundRect">
            <a:avLst/>
          </a:prstGeom>
          <a:solidFill>
            <a:srgbClr val="1E2837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761488"/>
            <a:ext cx="5330952" cy="530352"/>
          </a:xfrm>
          <a:prstGeom prst="roundRect">
            <a:avLst/>
          </a:prstGeom>
          <a:solidFill>
            <a:srgbClr val="1E2837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07792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A6B1C2"/>
                </a:solidFill>
                <a:latin typeface="Aptos"/>
              </a:rPr>
              <a:t>Static MCQs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907792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Scenario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907792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328416"/>
            <a:ext cx="5349240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328416"/>
            <a:ext cx="5330952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A6B1C2"/>
                </a:solidFill>
                <a:latin typeface="Aptos"/>
              </a:rPr>
              <a:t>Score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474720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Score + 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3474720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895344"/>
            <a:ext cx="5349240" cy="530352"/>
          </a:xfrm>
          <a:prstGeom prst="roundRect">
            <a:avLst/>
          </a:prstGeom>
          <a:solidFill>
            <a:srgbClr val="1E2837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895344"/>
            <a:ext cx="5330952" cy="530352"/>
          </a:xfrm>
          <a:prstGeom prst="roundRect">
            <a:avLst/>
          </a:prstGeom>
          <a:solidFill>
            <a:srgbClr val="1E2837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41648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A6B1C2"/>
                </a:solidFill>
                <a:latin typeface="Aptos"/>
              </a:rPr>
              <a:t>Generic revision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041648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Weak-area 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04164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4462272"/>
            <a:ext cx="5349240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4462272"/>
            <a:ext cx="5330952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608576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A6B1C2"/>
                </a:solidFill>
                <a:latin typeface="Aptos"/>
              </a:rPr>
              <a:t>Fixed conditions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608576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What-If experimentation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4608576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029200"/>
            <a:ext cx="5349240" cy="530352"/>
          </a:xfrm>
          <a:prstGeom prst="roundRect">
            <a:avLst/>
          </a:prstGeom>
          <a:solidFill>
            <a:srgbClr val="1E2837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5029200"/>
            <a:ext cx="5330952" cy="530352"/>
          </a:xfrm>
          <a:prstGeom prst="roundRect">
            <a:avLst/>
          </a:prstGeom>
          <a:solidFill>
            <a:srgbClr val="1E2837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175504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A6B1C2"/>
                </a:solidFill>
                <a:latin typeface="Aptos"/>
              </a:rPr>
              <a:t>No progress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5175504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XP + streak + achievements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5312" y="5175504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5596128"/>
            <a:ext cx="5349240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17920" y="5596128"/>
            <a:ext cx="5330952" cy="530352"/>
          </a:xfrm>
          <a:prstGeom prst="roundRect">
            <a:avLst/>
          </a:prstGeom>
          <a:solidFill>
            <a:srgbClr val="18202E"/>
          </a:solidFill>
          <a:ln w="5715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742432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A6B1C2"/>
                </a:solidFill>
                <a:latin typeface="Aptos"/>
              </a:rPr>
              <a:t>Separate resources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5742432"/>
            <a:ext cx="4526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One integrated journey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5742432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Aptos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" y="6309360"/>
            <a:ext cx="10927080" cy="320040"/>
          </a:xfrm>
          <a:prstGeom prst="roundRect">
            <a:avLst/>
          </a:prstGeom>
          <a:solidFill>
            <a:srgbClr val="1F2630"/>
          </a:solidFill>
          <a:ln w="508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382512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69" b="1">
                <a:solidFill>
                  <a:srgbClr val="FFC107"/>
                </a:solidFill>
                <a:latin typeface="Aptos"/>
              </a:rPr>
              <a:t>SafeRoute does not replace road-safety education. It makes learning more interactive, measurable and actionable.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IMPACT +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Measure Improvement, Not Just Completion.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353312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6B1C2"/>
                </a:solidFill>
                <a:latin typeface="Aptos"/>
              </a:rPr>
              <a:t>These are proposed product KPIs—not claimed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83080"/>
            <a:ext cx="3429000" cy="233172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2834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Aptos"/>
              </a:rPr>
              <a:t>LEARNING IMPACT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252374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528315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51460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Quiz accuracy improvement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" y="293522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93979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92608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Topic completion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" y="334670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5127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333756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Weak-area improvement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" y="375818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76275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374904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Knowledge retention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1783080"/>
            <a:ext cx="3429000" cy="233172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039112"/>
            <a:ext cx="2834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892B"/>
                </a:solidFill>
                <a:latin typeface="Aptos"/>
              </a:rPr>
              <a:t>BEHAVIOUR SIMULATION</a:t>
            </a:r>
          </a:p>
        </p:txBody>
      </p:sp>
      <p:sp>
        <p:nvSpPr>
          <p:cNvPr id="24" name="Oval 23"/>
          <p:cNvSpPr/>
          <p:nvPr/>
        </p:nvSpPr>
        <p:spPr>
          <a:xfrm>
            <a:off x="4645152" y="252374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2528315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336" y="251460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Safer-choice percentage</a:t>
            </a:r>
          </a:p>
        </p:txBody>
      </p:sp>
      <p:sp>
        <p:nvSpPr>
          <p:cNvPr id="27" name="Oval 26"/>
          <p:cNvSpPr/>
          <p:nvPr/>
        </p:nvSpPr>
        <p:spPr>
          <a:xfrm>
            <a:off x="4645152" y="293522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293979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292608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Scenario performance</a:t>
            </a:r>
          </a:p>
        </p:txBody>
      </p:sp>
      <p:sp>
        <p:nvSpPr>
          <p:cNvPr id="30" name="Oval 29"/>
          <p:cNvSpPr/>
          <p:nvPr/>
        </p:nvSpPr>
        <p:spPr>
          <a:xfrm>
            <a:off x="4645152" y="334670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335127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333756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What-If score changes</a:t>
            </a:r>
          </a:p>
        </p:txBody>
      </p:sp>
      <p:sp>
        <p:nvSpPr>
          <p:cNvPr id="33" name="Oval 32"/>
          <p:cNvSpPr/>
          <p:nvPr/>
        </p:nvSpPr>
        <p:spPr>
          <a:xfrm>
            <a:off x="4645152" y="375818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376275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374904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Decision consistency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2" y="1783080"/>
            <a:ext cx="3429000" cy="233172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039112"/>
            <a:ext cx="2834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C27D"/>
                </a:solidFill>
                <a:latin typeface="Aptos"/>
              </a:rPr>
              <a:t>ENGAGEMENT</a:t>
            </a:r>
          </a:p>
        </p:txBody>
      </p:sp>
      <p:sp>
        <p:nvSpPr>
          <p:cNvPr id="38" name="Oval 37"/>
          <p:cNvSpPr/>
          <p:nvPr/>
        </p:nvSpPr>
        <p:spPr>
          <a:xfrm>
            <a:off x="8439912" y="252374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912" y="2528315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9096" y="251460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Tests completed</a:t>
            </a:r>
          </a:p>
        </p:txBody>
      </p:sp>
      <p:sp>
        <p:nvSpPr>
          <p:cNvPr id="41" name="Oval 40"/>
          <p:cNvSpPr/>
          <p:nvPr/>
        </p:nvSpPr>
        <p:spPr>
          <a:xfrm>
            <a:off x="8439912" y="293522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9912" y="293979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69096" y="292608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Missions completed</a:t>
            </a:r>
          </a:p>
        </p:txBody>
      </p:sp>
      <p:sp>
        <p:nvSpPr>
          <p:cNvPr id="44" name="Oval 43"/>
          <p:cNvSpPr/>
          <p:nvPr/>
        </p:nvSpPr>
        <p:spPr>
          <a:xfrm>
            <a:off x="8439912" y="334670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9912" y="335127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9096" y="333756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Practice streak</a:t>
            </a:r>
          </a:p>
        </p:txBody>
      </p:sp>
      <p:sp>
        <p:nvSpPr>
          <p:cNvPr id="47" name="Oval 46"/>
          <p:cNvSpPr/>
          <p:nvPr/>
        </p:nvSpPr>
        <p:spPr>
          <a:xfrm>
            <a:off x="8439912" y="3758184"/>
            <a:ext cx="237744" cy="23774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9912" y="3762756"/>
            <a:ext cx="2377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9096" y="3749040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>
                <a:solidFill>
                  <a:srgbClr val="F5F7FA"/>
                </a:solidFill>
                <a:latin typeface="Aptos"/>
              </a:rPr>
              <a:t>Learning sessions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440740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6B1C2"/>
                </a:solidFill>
                <a:latin typeface="Aptos"/>
              </a:rPr>
              <a:t>WHO IT SERVES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" y="4736592"/>
            <a:ext cx="2487168" cy="1298448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86384" y="4910328"/>
            <a:ext cx="329184" cy="32918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4914900"/>
            <a:ext cx="32918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4919472"/>
            <a:ext cx="1691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>
                <a:solidFill>
                  <a:srgbClr val="F5F7FA"/>
                </a:solidFill>
                <a:latin typeface="Aptos"/>
              </a:rPr>
              <a:t>Learners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" y="5394960"/>
            <a:ext cx="21214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A6B1C2"/>
                </a:solidFill>
                <a:latin typeface="Aptos"/>
              </a:rPr>
              <a:t>Build foundational road-safety knowledge.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10712" y="4736592"/>
            <a:ext cx="2487168" cy="1298448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75304" y="4910328"/>
            <a:ext cx="329184" cy="32918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75304" y="4914900"/>
            <a:ext cx="32918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5072" y="4919472"/>
            <a:ext cx="1691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>
                <a:solidFill>
                  <a:srgbClr val="F5F7FA"/>
                </a:solidFill>
                <a:latin typeface="Aptos"/>
              </a:rPr>
              <a:t>New Riders / Drivers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75304" y="5394960"/>
            <a:ext cx="21214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A6B1C2"/>
                </a:solidFill>
                <a:latin typeface="Aptos"/>
              </a:rPr>
              <a:t>Practise safer decisions before real-world journeys.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99631" y="4736592"/>
            <a:ext cx="2487168" cy="1298448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364223" y="4910328"/>
            <a:ext cx="329184" cy="32918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3" y="4914900"/>
            <a:ext cx="32918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3992" y="4919472"/>
            <a:ext cx="1691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>
                <a:solidFill>
                  <a:srgbClr val="F5F7FA"/>
                </a:solidFill>
                <a:latin typeface="Aptos"/>
              </a:rPr>
              <a:t>Colleges &amp; Clubs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64223" y="5394960"/>
            <a:ext cx="21214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A6B1C2"/>
                </a:solidFill>
                <a:latin typeface="Aptos"/>
              </a:rPr>
              <a:t>Use SafeRoute for awareness campaigns.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88551" y="4736592"/>
            <a:ext cx="2487168" cy="1298448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153143" y="4910328"/>
            <a:ext cx="329184" cy="329184"/>
          </a:xfrm>
          <a:prstGeom prst="ellipse">
            <a:avLst/>
          </a:prstGeom>
          <a:solidFill>
            <a:srgbClr val="111722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53143" y="4914900"/>
            <a:ext cx="32918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82911" y="4919472"/>
            <a:ext cx="1691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>
                <a:solidFill>
                  <a:srgbClr val="F5F7FA"/>
                </a:solidFill>
                <a:latin typeface="Aptos"/>
              </a:rPr>
              <a:t>Hackathons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53143" y="5394960"/>
            <a:ext cx="21214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A6B1C2"/>
                </a:solidFill>
                <a:latin typeface="Aptos"/>
              </a:rPr>
              <a:t>Show meaningful UX + logic without backend complexity.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Aptos"/>
              </a:rP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From a College Prototype to a Road-Safety Learning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6B1C2"/>
                </a:solidFill>
                <a:latin typeface="Aptos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8890">
            <a:solidFill>
              <a:srgbClr val="33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737360"/>
            <a:ext cx="3246120" cy="274320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9339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27889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Single-file interactive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1" y="2880360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737360"/>
            <a:ext cx="3246120" cy="274320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F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9339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892B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87168"/>
            <a:ext cx="27889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Verified official-source content</a:t>
            </a:r>
            <a:br/>
            <a:r>
              <a:t>Multilingual learning</a:t>
            </a:r>
            <a:br/>
            <a:r>
              <a:t>Larger scenario library</a:t>
            </a:r>
            <a:br/>
            <a:r>
              <a:t>Accessibility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2880360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37360"/>
            <a:ext cx="3246120" cy="2743200"/>
          </a:xfrm>
          <a:prstGeom prst="roundRect">
            <a:avLst/>
          </a:prstGeom>
          <a:solidFill>
            <a:srgbClr val="18202E"/>
          </a:solidFill>
          <a:ln w="1143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99339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C27D"/>
                </a:solidFill>
                <a:latin typeface="Aptos"/>
              </a:rPr>
              <a:t>FUTURE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487168"/>
            <a:ext cx="27889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Institutional dashboards</a:t>
            </a:r>
            <a:br/>
            <a:r>
              <a:t>Awareness campaigns</a:t>
            </a:r>
            <a:br/>
            <a:r>
              <a:t>Optional analytics</a:t>
            </a:r>
            <a:br/>
            <a:r>
              <a:t>More personalized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800600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FIVE SCALE PILLARS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193792"/>
            <a:ext cx="2084831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212079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01 VERIFIED CONTENT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43784" y="5193792"/>
            <a:ext cx="2084831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9504" y="5212079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02 MULTILINGUAL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5776" y="5193792"/>
            <a:ext cx="2084831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1496" y="5212079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03 SCENARIO LIBRARY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7768" y="5193792"/>
            <a:ext cx="2084831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5212079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04 ACCESSIBILITY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5193792"/>
            <a:ext cx="2084831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5212079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05 INSTITUTIONAL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879592"/>
            <a:ext cx="10789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FFC107"/>
                </a:solidFill>
                <a:latin typeface="Aptos"/>
              </a:rPr>
              <a:t>Long-term vision: become a personalized road-safety learning companion—not just a driving-test preparation tool.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A6B1C2"/>
                </a:solidFill>
                <a:latin typeface="Aptos"/>
              </a:rPr>
              <a:t>SAFEROUTE • HACKATHON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537960"/>
            <a:ext cx="4983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Educational prototype • Not an official government/RTO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966960" y="-1051560"/>
            <a:ext cx="2926080" cy="2926080"/>
          </a:xfrm>
          <a:prstGeom prst="arc">
            <a:avLst/>
          </a:prstGeom>
          <a:noFill/>
          <a:ln w="12700">
            <a:solidFill>
              <a:srgbClr val="1B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377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FFC107"/>
                </a:solidFill>
                <a:latin typeface="Aptos"/>
              </a:rPr>
              <a:t>SAFEROUTE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66928"/>
            <a:ext cx="1737360" cy="310896"/>
          </a:xfrm>
          <a:prstGeom prst="roundRect">
            <a:avLst/>
          </a:prstGeom>
          <a:solidFill>
            <a:srgbClr val="111722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585216"/>
            <a:ext cx="164591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A6B1C2"/>
                </a:solidFill>
                <a:latin typeface="Aptos"/>
              </a:rPr>
              <a:t>HACKATHON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40080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Drive Smart.</a:t>
            </a:r>
            <a:br/>
            <a:r>
              <a:t>Ride Safe.</a:t>
            </a:r>
            <a:br/>
            <a:r>
              <a:t>Know the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5468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FFC107"/>
                </a:solidFill>
                <a:latin typeface="Aptos"/>
              </a:rPr>
              <a:t>Turn road-safety knowledge into safer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977639"/>
            <a:ext cx="1444752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995927"/>
            <a:ext cx="13533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014215"/>
            <a:ext cx="2926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977639"/>
            <a:ext cx="1444752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3995927"/>
            <a:ext cx="13533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4014215"/>
            <a:ext cx="2926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3977639"/>
            <a:ext cx="1444752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3995927"/>
            <a:ext cx="13533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6" y="4014215"/>
            <a:ext cx="2926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6" y="3977639"/>
            <a:ext cx="1444752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5896" y="3995927"/>
            <a:ext cx="13533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5F7FA"/>
                </a:solidFill>
                <a:latin typeface="Aptos"/>
              </a:rPr>
              <a:t>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4014215"/>
            <a:ext cx="2926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A6B1C2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35824" y="3977639"/>
            <a:ext cx="1719072" cy="310896"/>
          </a:xfrm>
          <a:prstGeom prst="roundRect">
            <a:avLst/>
          </a:prstGeom>
          <a:solidFill>
            <a:srgbClr val="18202E"/>
          </a:solidFill>
          <a:ln w="8890"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81544" y="3995927"/>
            <a:ext cx="162763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2DC27D"/>
                </a:solidFill>
                <a:latin typeface="Aptos"/>
              </a:rPr>
              <a:t>DRIVE SAFER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325880"/>
            <a:ext cx="4160520" cy="4434840"/>
          </a:xfrm>
          <a:prstGeom prst="roundRect">
            <a:avLst/>
          </a:prstGeom>
          <a:solidFill>
            <a:srgbClr val="1820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1627632"/>
            <a:ext cx="2560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THE IDEA IN ONE SCREEN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011680"/>
            <a:ext cx="1828800" cy="1828800"/>
          </a:xfrm>
          <a:prstGeom prst="roundRect">
            <a:avLst/>
          </a:prstGeom>
          <a:solidFill>
            <a:srgbClr val="18202E"/>
          </a:solidFill>
          <a:ln w="1016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212848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A6B1C2"/>
                </a:solidFill>
                <a:latin typeface="Aptos"/>
              </a:rPr>
              <a:t>SAFETY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487168"/>
            <a:ext cx="12801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400" b="1">
                <a:solidFill>
                  <a:srgbClr val="2DC27D"/>
                </a:solidFill>
                <a:latin typeface="Aptos"/>
              </a:rPr>
              <a:t>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69748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A6B1C2"/>
                </a:solidFill>
                <a:latin typeface="Aptos"/>
              </a:rPr>
              <a:t>/100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310128"/>
            <a:ext cx="1371600" cy="73152"/>
          </a:xfrm>
          <a:prstGeom prst="roundRect">
            <a:avLst/>
          </a:prstGeom>
          <a:solidFill>
            <a:srgbClr val="334052"/>
          </a:solidFill>
          <a:ln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0" y="3310128"/>
            <a:ext cx="1152144" cy="73152"/>
          </a:xfrm>
          <a:prstGeom prst="roundRect">
            <a:avLst/>
          </a:prstGeom>
          <a:solidFill>
            <a:srgbClr val="2DC27D"/>
          </a:solidFill>
          <a:ln>
            <a:solidFill>
              <a:srgbClr val="2D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44728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0">
                <a:solidFill>
                  <a:srgbClr val="A6B1C2"/>
                </a:solidFill>
                <a:latin typeface="Aptos"/>
              </a:rPr>
              <a:t>Scenario-based educational assessment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74352" y="2011680"/>
            <a:ext cx="1417320" cy="1828800"/>
          </a:xfrm>
          <a:prstGeom prst="roundRect">
            <a:avLst/>
          </a:prstGeom>
          <a:solidFill>
            <a:srgbClr val="1E2837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8" y="2240280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A6B1C2"/>
                </a:solidFill>
                <a:latin typeface="Aptos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560320"/>
            <a:ext cx="731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2DC27D"/>
                </a:solidFill>
                <a:latin typeface="Aptos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063240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A6B1C2"/>
                </a:solidFill>
                <a:latin typeface="Aptos"/>
              </a:rPr>
              <a:t>Coach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3310128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Retry signs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4133087"/>
            <a:ext cx="3456432" cy="1051560"/>
          </a:xfrm>
          <a:prstGeom prst="roundRect">
            <a:avLst/>
          </a:prstGeom>
          <a:solidFill>
            <a:srgbClr val="1E2837"/>
          </a:solidFill>
          <a:ln w="8890">
            <a:solidFill>
              <a:srgbClr val="33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37083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Aptos"/>
              </a:rPr>
              <a:t>WHAT-IF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663440"/>
            <a:ext cx="2834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Aptos"/>
              </a:rPr>
              <a:t>Rain → Clear  |  58 → 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THANK YOU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650992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Aptos"/>
              </a:rPr>
              <a:t>READY FOR THE NEXT ROUND.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6181344"/>
            <a:ext cx="4709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750" b="0">
                <a:solidFill>
                  <a:srgbClr val="A6B1C2"/>
                </a:solidFill>
                <a:latin typeface="Aptos"/>
              </a:rPr>
              <a:t>SafeRoute is an educational platform, not an official government/RTO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SafeRoute — Premium Hackathon Pitch Deck</dc:title>
  <dc:subject>Smart Road Safety, Learner Preparation &amp; Safety Awareness Platform</dc:subject>
  <dc:creator>SafeRoute</dc:creator>
  <cp:keywords>SafeRoute, road safety, hackathon, mobility tech, safety learning, What-If Simulator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